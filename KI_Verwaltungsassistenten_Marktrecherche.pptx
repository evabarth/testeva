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2395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A8E8"/>
                </a:solidFill>
                <a:latin typeface="Calibri"/>
              </a:rPr>
              <a:t>Marktrecherche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KI-basierte Verwaltungsassistenten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A8E8"/>
                </a:solidFill>
                <a:latin typeface="Calibri"/>
              </a:rPr>
              <a:t>auf dem deutschen Markt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Stand: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FF"/>
                </a:solidFill>
                <a:latin typeface="Calibri"/>
              </a:rPr>
              <a:t>Oeffentliche Verwaltung  |  Unternehmensbereich  |  Markttrends  |  Empfehlungen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Uebersicht der Praesentation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52704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3075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Marktueberblick &amp; Zahlen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7099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Marktgroesse, Wachstum, Adoptionsrate in Deutschland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52704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3075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Kategorien KI-Assistenten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7099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Typen, Einsatzbereiche und Unterscheidungsmerkmale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32888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532888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825496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06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Loesungen Oeffentliche Verwaltung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00837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Bundeslaender-Projekte, Bundesebene, souveraene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532888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532888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825496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606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Internationale Unternehmensloesungen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0837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Microsoft Copilot, SAP Joule, Notion AI, Slack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31335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831335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123944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90448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Deutsche Unternehmensloesungen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306823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fonio, Vitas, Personio und weitere DSGVO-konforme Anbieter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831335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831335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4123944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90448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Vergleichsmatrix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306823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Funktionen, Datenschutz, Zielgruppe im Ueberblick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3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5129783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542239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2029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Markttrends &amp; Ausblick 2026+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60527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Wachstumsprognosen, Konvergenz, Regulierung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129783"/>
            <a:ext cx="5577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5129783"/>
            <a:ext cx="502920" cy="114300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542239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2029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799"/>
                </a:solidFill>
                <a:latin typeface="Calibri"/>
              </a:rPr>
              <a:t>Fazit &amp; Empfehlungen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60527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Entscheidungshilfen fuer den Einsatz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Marktueberblick &amp;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KI-Markt Deutschland 2024-2026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365760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4630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799"/>
                </a:solidFill>
                <a:latin typeface="Calibri"/>
              </a:rPr>
              <a:t>USD 0,42 Mrd.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KI-Agenten-Markt
Deutschland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80160"/>
            <a:ext cx="365760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4630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799"/>
                </a:solidFill>
                <a:latin typeface="Calibri"/>
              </a:rPr>
              <a:t>USD 3,30 Mrd.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Prognose
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365760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4630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799"/>
                </a:solidFill>
                <a:latin typeface="Calibri"/>
              </a:rPr>
              <a:t>+45,3 % p.a.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CAGR
2026-2033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5760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657600"/>
            <a:ext cx="365760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840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799"/>
                </a:solidFill>
                <a:latin typeface="Calibri"/>
              </a:rPr>
              <a:t>935+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6634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KI-Startups
in Deutschland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65760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657600"/>
            <a:ext cx="365760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840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799"/>
                </a:solidFill>
                <a:latin typeface="Calibri"/>
              </a:rPr>
              <a:t>~33 %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46634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Unternehmen nutzen
KI produktiv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65760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657600"/>
            <a:ext cx="365760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3840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799"/>
                </a:solidFill>
                <a:latin typeface="Calibri"/>
              </a:rPr>
              <a:t>~40 %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6634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Wissensarbeit
automatisierbar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Kategorien KI-basierter Verwaltungsassistenten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Typen und Einsatzbereiche im Ueberblick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27432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274320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Textassistenten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45920"/>
            <a:ext cx="252374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Texterstellung &amp; Umformulierung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Dokumentenzusammenfassung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Uebersetzungen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Protokollerstellung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74320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Wissens- &amp;
Rechercheassistenten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1645920"/>
            <a:ext cx="252374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Interne Wissensdatenbanken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Dokumentenanalyse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Frage-Antwort-Systeme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Aktenrecherche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27432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274320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Prozess- &amp;
Workflow-Agenten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645920"/>
            <a:ext cx="252374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Formularausfuellung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Aufgabenautomatisierung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Multi-Step-Workflows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ERP/HR-Integration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234440"/>
            <a:ext cx="27432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234440"/>
            <a:ext cx="274320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Kommunikations-
assistenten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645920"/>
            <a:ext cx="252374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KI-Telefonassistenten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E-Mail-Verwaltung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Chat-/Ticketsysteme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Buergerservice-Bots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KI-Loesungen fuer die Oeffentliche Verwaltung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Bundeslaender-Projekte und Bundesebene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LLMoin
(Hamburg)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4592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Entwickelt von Dataport &amp; Hamburg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Rd. 40.000 Beschaeftigte nutzen 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Nachgenutzt von mehreren Bundeslaendern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Texterstellung, Zusammenfassung, Recherche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3444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2801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BaerGPT
(Berlin)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64592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Entwickelt vom CityLAB Berlin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Einfuehrung ab November 2025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Open Source, basiert auf Mistral-Modell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Fuer Berliner Verwaltungsmitarbeitende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801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BayernKI
(Bayern)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64592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Federfuehrung: Finanzministerium Bayern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Roll-out ab Oktober 2024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Gesamte Staatsverwaltung + Pilotkommunen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Multifunktionale KI-Anwendung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NRW.Genius
(NRW)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29768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Zentrales KI-Projekt in NRW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Fuer alle Verwaltungsebenen entwickelt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Textverarbeitung, Analyse, Assistenz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Landesweiter Rollout geplant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88620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88620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9319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F13 / Aleph Alpha
(Bund + BaWue)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29768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Von Aleph Alpha entwickelt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Auf STACKIT souveraener Cloud gehostet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Daten ausschliesslich in Deutschland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Vermerkomat, Textzusammenfassung, Recherche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88620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88620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9319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KIPITZ
(Bundesebene)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29768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KI-Plattform des ITZ-Bund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Basisplattform fuer LLMs der Bundesverwaltung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Dokumentzusammenfassung und Uebersetzung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Texterstellung und Umformulierung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Internationale Unternehmensloesungen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Microsoft Copilot, SAP Joule, Notion AI, Slack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889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8892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Microsoft 365
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45920"/>
            <a:ext cx="256946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Tief in Word, Teams, Outlook integriert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Zusammenfassungen, E-Mail-Entwuerfe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Integration mit SAP Joule (bidirektional)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Verfuegbar fuer Enterprise-Kunden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Datenhaltung: EU-Option vorhanden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234440"/>
            <a:ext cx="27889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234440"/>
            <a:ext cx="2788920" cy="347472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801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SAP Joule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645920"/>
            <a:ext cx="256946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KI-Copilot in SAP-Anwendungen (S/4HANA etc.)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2.100+ vordefinierte KI-Skills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Routineaufgaben bis 80 % schneller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Nahtlose Verbindung zu Microsoft 365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EU AI Act Konformitaetspfad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34440"/>
            <a:ext cx="27889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34440"/>
            <a:ext cx="2788920" cy="347472"/>
          </a:xfrm>
          <a:prstGeom prst="rect">
            <a:avLst/>
          </a:prstGeom>
          <a:solidFill>
            <a:srgbClr val="37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801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Notion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645920"/>
            <a:ext cx="256946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Meeting-Notizen &amp; Dokumentenzusammenfassung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Integration: Slack, Google Drive, Teams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Ab 11,50 EUR/Monat (Notion Plus)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Wissensmanagement fuer Teams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DSGVO-konform konfigurierbar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234440"/>
            <a:ext cx="27889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234440"/>
            <a:ext cx="2788920" cy="34747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80160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Slack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645920"/>
            <a:ext cx="256946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Channel- &amp; Thread-Zusammenfassungen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Tagesrecaps und Highlights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Schnelle Suche im Workspace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Ideal fuer kommunikationsintensive Teams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Datenspeicherung konfigurierbar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Deutsche Unternehmensloesungen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DSGVO-konforme Anbieter made in Germany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fonio KI-
Telefonassistent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4592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Spezialist fuer Unternehmenstelefonie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Anrufentgegennahme, Terminvereinbarung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Anliegen erfassen &amp; haeufige Fragen beantworten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Server ausschliesslich in Deutschland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DSGVO-konform, Daten in Europa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3444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2801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Vitas
Telefonassistent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64592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Made &amp; hosted in Germany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Kein auslaendischer Drittanbieter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Zielmarkt: DACH-Region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Branchenloesungen (Gesundheit, Dienstleistung)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Vollstaendige Datensouveraenitaet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801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Personio
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64592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KI-Assistent fuer HR-Verwaltung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Auskuenfte zu Urlaub, Gehalt, Recruiting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Automatische Preboarding-Pakete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Datenspeicherung innerhalb der EU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Zielgruppe: mittelstaendische Unternehmen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Aleph Alpha /
Pharia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29768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Deutsches KI-Unternehmen (Heidelberg)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Souveraenes Sprachmodell fuer Unternehmen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Integration mit STACKIT-Cloud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Einsatz in Verwaltung &amp; Unternehmen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Volle Datensouveraenitaet, On-Premise moeglich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88620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88620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9319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Dataport
LLMoin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29768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Oeffentlich-rechtliches IT-Dienstleistungsunternehmen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Loesungen fuer Verwaltung und Unternehmen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KI-Assistent basierend auf Open Source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Nachnutzung fuer mehrere Bundeslaender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Sicherer Betrieb in Deutschland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886200"/>
            <a:ext cx="374903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886200"/>
            <a:ext cx="3749039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9319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DeepL
Write /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297680"/>
            <a:ext cx="3529583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Weltweit gefuehrter Uebersetzungsdienst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Sitz: Koeln, Deutschland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DSGVO-konform, EU-Datenhaltung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Text-Optimierung &amp; KI-Uebersetzung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Starke API-Integration fuer Unternehmen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Vergleichsmatrix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Wichtigste Anbieter im direkten Vergleich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975104" cy="5029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7101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Anbieter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234440"/>
            <a:ext cx="1792224" cy="5029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27101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Typ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234440"/>
            <a:ext cx="1975104" cy="5029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27101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Zielgruppe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1517904" cy="5029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271016"/>
            <a:ext cx="1463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DSGVO/
Datenschutz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234440"/>
            <a:ext cx="1700784" cy="5029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271016"/>
            <a:ext cx="16459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Daten-
souveraenitaet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234440"/>
            <a:ext cx="1700784" cy="5029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271016"/>
            <a:ext cx="16459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Preis-
modell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737360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1792224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Microsoft Copilot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737360"/>
            <a:ext cx="179222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40864" y="179222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Produktivitaet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737360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3" y="1792224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Enterprise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37360"/>
            <a:ext cx="15179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792224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EU-Option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737360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4" y="1792224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Konfigurierbar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1737360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73184" y="1792224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Pro User/Monat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304288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235915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SAP Joule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304288"/>
            <a:ext cx="179222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40864" y="2359152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ERP-Assistent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2304288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9663" y="235915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SAP-Kunden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304288"/>
            <a:ext cx="15179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235915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EU AI 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304288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35824" y="2359152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Konfigurierbar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2304288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73184" y="2359152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Im SAP-Abo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871215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2926079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LLMoin (Hamburg)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2871215"/>
            <a:ext cx="179222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40864" y="2926079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Verwaltung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871215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3" y="2926079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Oeffentl. Sektor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871215"/>
            <a:ext cx="15179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1344" y="2926079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Vollstaendig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2871215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35824" y="2926079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DE-Server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2871215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73184" y="2926079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Oeffentlich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438144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3493008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BaerGPT (Berlin)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438144"/>
            <a:ext cx="179222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40864" y="3493008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Verwaltung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0" y="3438144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69663" y="3493008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Berliner Verw.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3438144"/>
            <a:ext cx="15179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81344" y="3493008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Vollstaendig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3438144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35824" y="3493008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DE-Server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0" y="3438144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73184" y="3493008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Open Source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005072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4059935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F13 / Aleph Alpha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4005072"/>
            <a:ext cx="179222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40864" y="4059935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Verwaltung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0" y="4005072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9663" y="4059935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Bund + Laender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0" y="4005072"/>
            <a:ext cx="15179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81344" y="4059935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Vollstaendig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60" y="4005072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35824" y="4059935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DE/EU only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418320" y="4005072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73184" y="4059935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Lizenz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4572000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4626864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fonio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0" y="4572000"/>
            <a:ext cx="179222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40864" y="462686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Telefon-KI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4572000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69663" y="4626864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KMU / Unternehm.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26480" y="4572000"/>
            <a:ext cx="15179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81344" y="4626864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DSGVO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80960" y="4572000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35824" y="4626864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DE-Server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18320" y="4572000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73184" y="4626864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Abo-Modell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5138927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9184" y="5193791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Personio Assist.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0" y="5138927"/>
            <a:ext cx="179222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340864" y="5193791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HR-Assistent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14800" y="5138927"/>
            <a:ext cx="19751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69663" y="5193791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KMU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26480" y="5138927"/>
            <a:ext cx="151790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81344" y="5193791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EU-Daten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80960" y="5138927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35824" y="5193791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EU only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418320" y="5138927"/>
            <a:ext cx="1700784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73184" y="5193791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Im HR-Abo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5705856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9184" y="5760720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4799"/>
                </a:solidFill>
                <a:latin typeface="Calibri"/>
              </a:rPr>
              <a:t>Notion AI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86000" y="5705856"/>
            <a:ext cx="179222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40864" y="5760720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Wissen/Doku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14800" y="5705856"/>
            <a:ext cx="19751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169663" y="5760720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Teams &amp; KMU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26480" y="5705856"/>
            <a:ext cx="151790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81344" y="5760720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Konfigurierbar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80960" y="5705856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35824" y="5760720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Konfigurierbar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418320" y="5705856"/>
            <a:ext cx="1700784" cy="530352"/>
          </a:xfrm>
          <a:prstGeom prst="rect">
            <a:avLst/>
          </a:prstGeom>
          <a:solidFill>
            <a:srgbClr val="F4F7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473184" y="5760720"/>
            <a:ext cx="16093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Ab 11,50 EUR/M.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Markttrends &amp; Ausblick 2026+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Wachstumstreiber, Konvergenz und Regulierung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Markt-
wachstum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45920"/>
            <a:ext cx="54498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KI-Agenten-Markt: +45,3 % CAGR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Von USD 8,6 Mrd. (2025) auf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USD 263 Mrd. bis 2035 (global)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Deutschland als fuehrender EU-Markt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Konvergenz
von Plattformen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45920"/>
            <a:ext cx="54498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SAP Joule + Microsoft Copilot
fusionieren zu einer KI-Einheit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Multi-Agenten-Systeme (Gartner Top 10)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Browser-Agenten automatisieren Online-Aufgaben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Voice-Agenten auf menschlichem Niveau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566928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77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Datensouver-
aenitatstrend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43400"/>
            <a:ext cx="54498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Steigende Nachfrage nach DE/EU-Hosting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Open-Source-Loesungen gewinnen an Bedeutung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STACKIT, Aleph Alpha als deutsche Alternativen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EU AI Act treibt Compliance-Anforderungen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5669280" cy="34747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977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Spezialisierung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343400"/>
            <a:ext cx="54498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Branchenspez. Agenten schlagen Generalisten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Verwaltungs-KI als eigene Kategorie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GovTech-Ecosystem waechst stark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Nachnutzungskonzepte zwischen Laendern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Fazit &amp; Empfehlungen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  <a:latin typeface="Calibri"/>
              </a:rPr>
              <a:t>Entscheidungshilfen fuer den Einsatz KI-basierter Verwaltungsassistenten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Marktrecherche: KI-basierte Verwaltungsassistenten | Deutschland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92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48640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486400" cy="3657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527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Kernerkenntnisse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Breites Oekosystem: Markt reicht von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souveraenen DE-Loesungen bis zu globalen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Enterprise-Plattformen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Oeffentliche Verwaltung: LLMoin, BaerGPT,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BayernKI, NRW.Genius, F13 und KIPITZ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decken fast alle Verwaltungsebenen ab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Unternehmen: SAP Joule + Microsoft Copilot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als dominantes Enterprise-Duo; deutsche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Alternativen bei hohem Datenschutzbedarf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DSGVO &amp; Datensouveraenitaet sind zentrale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Kaufentscheidungskriterien in Deutschland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Markt waechst mit &gt; 45 % CAGR – fruehe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  Einfuehrung verschafft Wettbewerbsvorteil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576072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576072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527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Empfehlungen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5623560" cy="25603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75564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4799"/>
                </a:solidFill>
                <a:latin typeface="Calibri"/>
              </a:rPr>
              <a:t>Oeffentliche Verwaltung: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79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Nachnutzung bestehender Landesprojekte
(LLMoin, BayernKI) pruefen; KIPITZ fuer
Bundesbehoerden als Einstieg nutzen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926080"/>
            <a:ext cx="5623560" cy="25603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94436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4799"/>
                </a:solidFill>
                <a:latin typeface="Calibri"/>
              </a:rPr>
              <a:t>Mittelstaendische Unternehmen: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Personio Assistant fuer HR; fonio oder
Vitas fuer Telefonie; Notion AI fuer
Wissensmanagement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114800"/>
            <a:ext cx="5623560" cy="25603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133087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4799"/>
                </a:solidFill>
                <a:latin typeface="Calibri"/>
              </a:rPr>
              <a:t>Grosse Unternehmen: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SAP Joule + Microsoft Copilot als
integrierten Stack; Aleph Alpha fuer
hoehere Datensouveraenitaetsanforderungen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5303520"/>
            <a:ext cx="5623560" cy="25603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321807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4799"/>
                </a:solidFill>
                <a:latin typeface="Calibri"/>
              </a:rPr>
              <a:t>Alle Organisationen: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577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EU AI Act-Konformitaet fruehzeitig
planen; Pilotprojekte starten; interne
KI-Kompetenzen aufbauen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